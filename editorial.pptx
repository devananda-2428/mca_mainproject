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0" r:id="rId9"/>
    <p:sldId id="264" r:id="rId10"/>
    <p:sldId id="271" r:id="rId11"/>
    <p:sldId id="272" r:id="rId12"/>
    <p:sldId id="265" r:id="rId13"/>
    <p:sldId id="267" r:id="rId14"/>
    <p:sldId id="277" r:id="rId15"/>
    <p:sldId id="270" r:id="rId16"/>
    <p:sldId id="275" r:id="rId17"/>
    <p:sldId id="280" r:id="rId18"/>
    <p:sldId id="276" r:id="rId19"/>
    <p:sldId id="278" r:id="rId20"/>
    <p:sldId id="274" r:id="rId21"/>
    <p:sldId id="279" r:id="rId22"/>
    <p:sldId id="266" r:id="rId23"/>
    <p:sldId id="268" r:id="rId24"/>
    <p:sldId id="26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E439-B40A-47A4-A568-99599445E58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77B97-7203-4FC9-8608-D8AB195787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232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E439-B40A-47A4-A568-99599445E58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77B97-7203-4FC9-8608-D8AB195787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617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E439-B40A-47A4-A568-99599445E58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77B97-7203-4FC9-8608-D8AB195787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764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E439-B40A-47A4-A568-99599445E58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77B97-7203-4FC9-8608-D8AB195787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426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E439-B40A-47A4-A568-99599445E58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77B97-7203-4FC9-8608-D8AB195787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4275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E439-B40A-47A4-A568-99599445E58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77B97-7203-4FC9-8608-D8AB195787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9503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E439-B40A-47A4-A568-99599445E58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77B97-7203-4FC9-8608-D8AB195787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898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E439-B40A-47A4-A568-99599445E58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77B97-7203-4FC9-8608-D8AB195787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243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E439-B40A-47A4-A568-99599445E58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77B97-7203-4FC9-8608-D8AB195787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551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E439-B40A-47A4-A568-99599445E58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77B97-7203-4FC9-8608-D8AB195787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0557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E439-B40A-47A4-A568-99599445E58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77B97-7203-4FC9-8608-D8AB195787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9FE439-B40A-47A4-A568-99599445E58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D77B97-7203-4FC9-8608-D8AB195787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868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 noGrp="1"/>
          </p:cNvSpPr>
          <p:nvPr/>
        </p:nvSpPr>
        <p:spPr>
          <a:xfrm>
            <a:off x="2712767" y="264527"/>
            <a:ext cx="6897059" cy="87908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 sz="1400" b="0" i="0">
                <a:solidFill>
                  <a:srgbClr val="07070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lang="en-US" sz="2800" b="1" spc="145" dirty="0" smtClean="0">
                <a:solidFill>
                  <a:srgbClr val="BF00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Secure Web-Based Editorial Services Management System</a:t>
            </a:r>
            <a:endParaRPr sz="2800" b="1" spc="145" dirty="0">
              <a:solidFill>
                <a:srgbClr val="BF003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5"/>
          <p:cNvSpPr txBox="1"/>
          <p:nvPr/>
        </p:nvSpPr>
        <p:spPr>
          <a:xfrm>
            <a:off x="3796334" y="3937695"/>
            <a:ext cx="4441892" cy="27693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</a:lstStyle>
          <a:p>
            <a:pPr marL="1270" algn="ctr">
              <a:lnSpc>
                <a:spcPct val="100000"/>
              </a:lnSpc>
              <a:spcBef>
                <a:spcPts val="95"/>
              </a:spcBef>
            </a:pPr>
            <a:r>
              <a:rPr lang="en-US" sz="2100" b="1" spc="120" dirty="0" smtClean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Devananda Rajan</a:t>
            </a:r>
          </a:p>
          <a:p>
            <a:pPr marL="1270" algn="ctr">
              <a:lnSpc>
                <a:spcPct val="100000"/>
              </a:lnSpc>
              <a:spcBef>
                <a:spcPts val="95"/>
              </a:spcBef>
            </a:pPr>
            <a:r>
              <a:rPr lang="en-US" sz="2000" b="1" spc="12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24MCA28</a:t>
            </a:r>
            <a:endParaRPr lang="en-US" sz="2000" b="1" spc="12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 rtl="0">
              <a:spcBef>
                <a:spcPts val="95"/>
              </a:spcBef>
            </a:pPr>
            <a:r>
              <a:rPr lang="en-US" sz="2000" dirty="0">
                <a:solidFill>
                  <a:srgbClr val="070707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Under the Supervision of</a:t>
            </a:r>
          </a:p>
          <a:p>
            <a:pPr marL="1270" algn="ctr">
              <a:lnSpc>
                <a:spcPct val="100000"/>
              </a:lnSpc>
              <a:spcBef>
                <a:spcPts val="95"/>
              </a:spcBef>
            </a:pPr>
            <a:r>
              <a:rPr lang="en-US" sz="20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sz="2000" b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Fousia M Shamsudeen</a:t>
            </a:r>
            <a:endParaRPr sz="20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5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TKM College of Engineering, Kollam</a:t>
            </a:r>
          </a:p>
          <a:p>
            <a:pPr algn="ctr">
              <a:lnSpc>
                <a:spcPct val="100000"/>
              </a:lnSpc>
              <a:spcBef>
                <a:spcPts val="45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MCA</a:t>
            </a:r>
          </a:p>
          <a:p>
            <a:pPr algn="ctr">
              <a:lnSpc>
                <a:spcPct val="100000"/>
              </a:lnSpc>
              <a:spcBef>
                <a:spcPts val="45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Applications </a:t>
            </a:r>
          </a:p>
          <a:p>
            <a:pPr algn="ctr">
              <a:lnSpc>
                <a:spcPct val="100000"/>
              </a:lnSpc>
              <a:spcBef>
                <a:spcPts val="450"/>
              </a:spcBef>
            </a:pPr>
            <a:r>
              <a:rPr lang="en-US" sz="2000" spc="60" dirty="0" smtClean="0">
                <a:solidFill>
                  <a:srgbClr val="0707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March </a:t>
            </a:r>
            <a:r>
              <a:rPr lang="en-US" sz="2000" spc="60" dirty="0" smtClean="0">
                <a:solidFill>
                  <a:srgbClr val="0707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sz="2000" spc="60" dirty="0" smtClean="0">
                <a:solidFill>
                  <a:srgbClr val="0707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000" spc="114" dirty="0" smtClean="0">
                <a:solidFill>
                  <a:srgbClr val="0707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40" dirty="0">
                <a:solidFill>
                  <a:srgbClr val="0707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</a:t>
            </a:r>
            <a:r>
              <a:rPr lang="en-US" sz="2000" spc="40" dirty="0">
                <a:solidFill>
                  <a:srgbClr val="0707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lc="http://schemas.openxmlformats.org/drawingml/2006/lockedCanvas" xmlns:a16="http://schemas.microsoft.com/office/drawing/2014/main" xmlns="" id="{4B382E44-3D1C-197F-83E3-52FCA9F5C0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1419" y="1689685"/>
            <a:ext cx="1891721" cy="1891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818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 noGrp="1"/>
          </p:cNvSpPr>
          <p:nvPr/>
        </p:nvSpPr>
        <p:spPr>
          <a:xfrm>
            <a:off x="101073" y="76890"/>
            <a:ext cx="4945380" cy="47897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 sz="1400" b="0" i="0">
                <a:solidFill>
                  <a:srgbClr val="07070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000" b="1" spc="114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r>
              <a:rPr sz="3000" b="1" spc="24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b="1" spc="12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grpSp>
        <p:nvGrpSpPr>
          <p:cNvPr id="5" name="object 4"/>
          <p:cNvGrpSpPr/>
          <p:nvPr/>
        </p:nvGrpSpPr>
        <p:grpSpPr>
          <a:xfrm>
            <a:off x="0" y="555868"/>
            <a:ext cx="5912558" cy="91114"/>
            <a:chOff x="-10" y="329481"/>
            <a:chExt cx="2880360" cy="36195"/>
          </a:xfrm>
        </p:grpSpPr>
        <p:sp>
          <p:nvSpPr>
            <p:cNvPr id="6" name="object 5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2880035" y="0"/>
                  </a:moveTo>
                  <a:lnTo>
                    <a:pt x="0" y="0"/>
                  </a:lnTo>
                  <a:lnTo>
                    <a:pt x="0" y="36002"/>
                  </a:lnTo>
                  <a:lnTo>
                    <a:pt x="288003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sz="3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6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0" y="0"/>
                  </a:moveTo>
                  <a:lnTo>
                    <a:pt x="2880035" y="0"/>
                  </a:lnTo>
                  <a:lnTo>
                    <a:pt x="0" y="36002"/>
                  </a:lnTo>
                  <a:lnTo>
                    <a:pt x="0" y="0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sz="3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0" y="890601"/>
            <a:ext cx="5714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04182" y="1241817"/>
            <a:ext cx="253146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204" y="2996143"/>
            <a:ext cx="57141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Status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17779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/>
          <p:cNvGrpSpPr/>
          <p:nvPr/>
        </p:nvGrpSpPr>
        <p:grpSpPr>
          <a:xfrm>
            <a:off x="0" y="555867"/>
            <a:ext cx="5912558" cy="151499"/>
            <a:chOff x="-10" y="329481"/>
            <a:chExt cx="2880360" cy="36195"/>
          </a:xfrm>
        </p:grpSpPr>
        <p:sp>
          <p:nvSpPr>
            <p:cNvPr id="6" name="object 5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2880035" y="0"/>
                  </a:moveTo>
                  <a:lnTo>
                    <a:pt x="0" y="0"/>
                  </a:lnTo>
                  <a:lnTo>
                    <a:pt x="0" y="36002"/>
                  </a:lnTo>
                  <a:lnTo>
                    <a:pt x="288003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sz="3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6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0" y="0"/>
                  </a:moveTo>
                  <a:lnTo>
                    <a:pt x="2880035" y="0"/>
                  </a:lnTo>
                  <a:lnTo>
                    <a:pt x="0" y="36002"/>
                  </a:lnTo>
                  <a:lnTo>
                    <a:pt x="0" y="0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sz="3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object 2"/>
          <p:cNvSpPr txBox="1">
            <a:spLocks noGrp="1"/>
          </p:cNvSpPr>
          <p:nvPr/>
        </p:nvSpPr>
        <p:spPr>
          <a:xfrm>
            <a:off x="101073" y="76890"/>
            <a:ext cx="4945380" cy="47897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 sz="1400" b="0" i="0">
                <a:solidFill>
                  <a:srgbClr val="07070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3000" b="1" spc="12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3000" b="1" spc="12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9161" y="1377213"/>
            <a:ext cx="10357450" cy="4457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Secure Web-Based Editorial Services Management System is a web application designed to manage editorial services through a centralized platform.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allows users to submit documents and provide editing instructions in a structured manner.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track the progress of their editorial requests through the application.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Editors and administrators can efficiently manage documents, communication, and workflows within the system.</a:t>
            </a:r>
          </a:p>
        </p:txBody>
      </p:sp>
    </p:spTree>
    <p:extLst>
      <p:ext uri="{BB962C8B-B14F-4D97-AF65-F5344CB8AC3E}">
        <p14:creationId xmlns:p14="http://schemas.microsoft.com/office/powerpoint/2010/main" val="2591952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/>
          <p:cNvGrpSpPr/>
          <p:nvPr/>
        </p:nvGrpSpPr>
        <p:grpSpPr>
          <a:xfrm>
            <a:off x="0" y="555867"/>
            <a:ext cx="5912558" cy="151499"/>
            <a:chOff x="-10" y="329481"/>
            <a:chExt cx="2880360" cy="36195"/>
          </a:xfrm>
        </p:grpSpPr>
        <p:sp>
          <p:nvSpPr>
            <p:cNvPr id="6" name="object 5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2880035" y="0"/>
                  </a:moveTo>
                  <a:lnTo>
                    <a:pt x="0" y="0"/>
                  </a:lnTo>
                  <a:lnTo>
                    <a:pt x="0" y="36002"/>
                  </a:lnTo>
                  <a:lnTo>
                    <a:pt x="288003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sz="3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6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0" y="0"/>
                  </a:moveTo>
                  <a:lnTo>
                    <a:pt x="2880035" y="0"/>
                  </a:lnTo>
                  <a:lnTo>
                    <a:pt x="0" y="36002"/>
                  </a:lnTo>
                  <a:lnTo>
                    <a:pt x="0" y="0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sz="3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object 2"/>
          <p:cNvSpPr txBox="1">
            <a:spLocks noGrp="1"/>
          </p:cNvSpPr>
          <p:nvPr/>
        </p:nvSpPr>
        <p:spPr>
          <a:xfrm>
            <a:off x="101073" y="76890"/>
            <a:ext cx="4945380" cy="47897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 sz="1400" b="0" i="0">
                <a:solidFill>
                  <a:srgbClr val="07070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3000" b="1" spc="12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sz="3000" b="1" spc="12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24287" y="1069675"/>
            <a:ext cx="1093829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system for managing clients.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Files shared through common communication channels.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track:</a:t>
            </a:r>
          </a:p>
          <a:p>
            <a:pPr>
              <a:lnSpc>
                <a:spcPct val="150000"/>
              </a:lnSpc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Risk of data loss and data breach.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manual coordination.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801004" y="2644927"/>
            <a:ext cx="328006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Payment Status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Progress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Client Communication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053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/>
          <p:cNvGrpSpPr/>
          <p:nvPr/>
        </p:nvGrpSpPr>
        <p:grpSpPr>
          <a:xfrm>
            <a:off x="0" y="555867"/>
            <a:ext cx="5912558" cy="151499"/>
            <a:chOff x="-10" y="329481"/>
            <a:chExt cx="2880360" cy="36195"/>
          </a:xfrm>
        </p:grpSpPr>
        <p:sp>
          <p:nvSpPr>
            <p:cNvPr id="6" name="object 5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2880035" y="0"/>
                  </a:moveTo>
                  <a:lnTo>
                    <a:pt x="0" y="0"/>
                  </a:lnTo>
                  <a:lnTo>
                    <a:pt x="0" y="36002"/>
                  </a:lnTo>
                  <a:lnTo>
                    <a:pt x="288003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sz="3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6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0" y="0"/>
                  </a:moveTo>
                  <a:lnTo>
                    <a:pt x="2880035" y="0"/>
                  </a:lnTo>
                  <a:lnTo>
                    <a:pt x="0" y="36002"/>
                  </a:lnTo>
                  <a:lnTo>
                    <a:pt x="0" y="0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sz="3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object 2"/>
          <p:cNvSpPr txBox="1">
            <a:spLocks noGrp="1"/>
          </p:cNvSpPr>
          <p:nvPr/>
        </p:nvSpPr>
        <p:spPr>
          <a:xfrm>
            <a:off x="101073" y="76890"/>
            <a:ext cx="5652746" cy="47897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 sz="1400" b="0" i="0">
                <a:solidFill>
                  <a:srgbClr val="07070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3000" b="1" spc="12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</a:t>
            </a:r>
            <a:endParaRPr sz="3000" b="1" spc="12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365" y="1474791"/>
            <a:ext cx="11073442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Editorial services are managed using emails, messaging apps, or generic web platforms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Limited  workflow tracking and Communication.</a:t>
            </a: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 centralized and structured workflow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security for document sharing and communication.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processes cause delays and inefficiency.</a:t>
            </a:r>
          </a:p>
        </p:txBody>
      </p:sp>
    </p:spTree>
    <p:extLst>
      <p:ext uri="{BB962C8B-B14F-4D97-AF65-F5344CB8AC3E}">
        <p14:creationId xmlns:p14="http://schemas.microsoft.com/office/powerpoint/2010/main" val="764435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/>
          <p:cNvGrpSpPr/>
          <p:nvPr/>
        </p:nvGrpSpPr>
        <p:grpSpPr>
          <a:xfrm>
            <a:off x="0" y="555867"/>
            <a:ext cx="5912558" cy="151499"/>
            <a:chOff x="-10" y="329481"/>
            <a:chExt cx="2880360" cy="36195"/>
          </a:xfrm>
        </p:grpSpPr>
        <p:sp>
          <p:nvSpPr>
            <p:cNvPr id="6" name="object 5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2880035" y="0"/>
                  </a:moveTo>
                  <a:lnTo>
                    <a:pt x="0" y="0"/>
                  </a:lnTo>
                  <a:lnTo>
                    <a:pt x="0" y="36002"/>
                  </a:lnTo>
                  <a:lnTo>
                    <a:pt x="288003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sz="3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6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0" y="0"/>
                  </a:moveTo>
                  <a:lnTo>
                    <a:pt x="2880035" y="0"/>
                  </a:lnTo>
                  <a:lnTo>
                    <a:pt x="0" y="36002"/>
                  </a:lnTo>
                  <a:lnTo>
                    <a:pt x="0" y="0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sz="3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object 2"/>
          <p:cNvSpPr txBox="1">
            <a:spLocks noGrp="1"/>
          </p:cNvSpPr>
          <p:nvPr/>
        </p:nvSpPr>
        <p:spPr>
          <a:xfrm>
            <a:off x="101073" y="76890"/>
            <a:ext cx="4945380" cy="47897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 sz="1400" b="0" i="0">
                <a:solidFill>
                  <a:srgbClr val="07070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3000" b="1" spc="12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</a:t>
            </a:r>
            <a:endParaRPr sz="3000" b="1" spc="12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521095"/>
              </p:ext>
            </p:extLst>
          </p:nvPr>
        </p:nvGraphicFramePr>
        <p:xfrm>
          <a:off x="345056" y="826410"/>
          <a:ext cx="11317855" cy="5708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9895"/>
                <a:gridCol w="3647247"/>
                <a:gridCol w="2263571"/>
                <a:gridCol w="2263571"/>
                <a:gridCol w="2263571"/>
              </a:tblGrid>
              <a:tr h="502058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Sl.No</a:t>
                      </a:r>
                      <a:endParaRPr lang="en-IN" sz="2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Details</a:t>
                      </a:r>
                      <a:endParaRPr lang="en-IN" sz="2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Techniques used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Pros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96682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sz="1800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Samuel</a:t>
                      </a:r>
                      <a:r>
                        <a:rPr lang="en-US" sz="1800" b="0" i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 Alade</a:t>
                      </a:r>
                      <a:br>
                        <a:rPr lang="en-US" sz="1800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800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“Design and Implementation of a Web-Based Document Management System”, International Journal of Information Technology and Computer Science (IJITCS),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Web-based document management, role-based access, upload/retrieval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Foundation for web document systems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include advanced security, automation, or payments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57518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Suprakash Sudarsanan Nair, Karuppasamy Mariappan</a:t>
                      </a:r>
                      <a:br>
                        <a:rPr lang="en-IN" sz="1800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800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“A Secure Framework for Communication in Web Applications”, Engineering Proceedings, 2023</a:t>
                      </a:r>
                      <a:endParaRPr lang="en-IN" sz="18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SSL/TLS, encryption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secure communication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address workflow or payment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50272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Anrie Suryaningrat</a:t>
                      </a:r>
                      <a:r>
                        <a:rPr lang="en-US" sz="1800" b="0" i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</a:t>
                      </a:r>
                      <a:r>
                        <a:rPr lang="en-US" sz="1800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en-US" sz="1800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800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“File Upload Security: Essential Practices for Programmers”, CCIT Journal, 2024</a:t>
                      </a:r>
                      <a:endParaRPr lang="en-IN" sz="18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 sanitization, secure upload validation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file-upload vulnerabilities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  <a:r>
                        <a:rPr lang="en-US" sz="1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Storage Security concepts.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7814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/>
          <p:cNvGrpSpPr/>
          <p:nvPr/>
        </p:nvGrpSpPr>
        <p:grpSpPr>
          <a:xfrm>
            <a:off x="0" y="555867"/>
            <a:ext cx="5912558" cy="151499"/>
            <a:chOff x="-10" y="329481"/>
            <a:chExt cx="2880360" cy="36195"/>
          </a:xfrm>
        </p:grpSpPr>
        <p:sp>
          <p:nvSpPr>
            <p:cNvPr id="6" name="object 5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2880035" y="0"/>
                  </a:moveTo>
                  <a:lnTo>
                    <a:pt x="0" y="0"/>
                  </a:lnTo>
                  <a:lnTo>
                    <a:pt x="0" y="36002"/>
                  </a:lnTo>
                  <a:lnTo>
                    <a:pt x="288003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sz="3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6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0" y="0"/>
                  </a:moveTo>
                  <a:lnTo>
                    <a:pt x="2880035" y="0"/>
                  </a:lnTo>
                  <a:lnTo>
                    <a:pt x="0" y="36002"/>
                  </a:lnTo>
                  <a:lnTo>
                    <a:pt x="0" y="0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sz="3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object 2"/>
          <p:cNvSpPr txBox="1">
            <a:spLocks noGrp="1"/>
          </p:cNvSpPr>
          <p:nvPr/>
        </p:nvSpPr>
        <p:spPr>
          <a:xfrm>
            <a:off x="101073" y="76890"/>
            <a:ext cx="4945380" cy="47897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 sz="1400" b="0" i="0">
                <a:solidFill>
                  <a:srgbClr val="07070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3000" b="1" spc="12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spc="12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43411" y="1544128"/>
            <a:ext cx="1093829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provide only basic document management without complete editorial workflows.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features are limited.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cannot initiate editor revisions, restricting the document management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Secure online payment integration is not included with document management systems.</a:t>
            </a: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609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/>
          <p:cNvGrpSpPr/>
          <p:nvPr/>
        </p:nvGrpSpPr>
        <p:grpSpPr>
          <a:xfrm>
            <a:off x="0" y="555867"/>
            <a:ext cx="5912558" cy="151499"/>
            <a:chOff x="-10" y="329481"/>
            <a:chExt cx="2880360" cy="36195"/>
          </a:xfrm>
        </p:grpSpPr>
        <p:sp>
          <p:nvSpPr>
            <p:cNvPr id="6" name="object 5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2880035" y="0"/>
                  </a:moveTo>
                  <a:lnTo>
                    <a:pt x="0" y="0"/>
                  </a:lnTo>
                  <a:lnTo>
                    <a:pt x="0" y="36002"/>
                  </a:lnTo>
                  <a:lnTo>
                    <a:pt x="288003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sz="3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6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0" y="0"/>
                  </a:moveTo>
                  <a:lnTo>
                    <a:pt x="2880035" y="0"/>
                  </a:lnTo>
                  <a:lnTo>
                    <a:pt x="0" y="36002"/>
                  </a:lnTo>
                  <a:lnTo>
                    <a:pt x="0" y="0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sz="3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object 2"/>
          <p:cNvSpPr txBox="1">
            <a:spLocks noGrp="1"/>
          </p:cNvSpPr>
          <p:nvPr/>
        </p:nvSpPr>
        <p:spPr>
          <a:xfrm>
            <a:off x="101073" y="76890"/>
            <a:ext cx="4945380" cy="47897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 sz="1400" b="0" i="0">
                <a:solidFill>
                  <a:srgbClr val="07070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3000" b="1" spc="12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000" b="1" spc="12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93299" y="1371600"/>
            <a:ext cx="1093829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secure web-based platform.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 secure file upload and communication system.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Enable structured editing instructions submission.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Enable secure online payment transactions.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 data management and workflow efficiency.</a:t>
            </a:r>
          </a:p>
        </p:txBody>
      </p:sp>
    </p:spTree>
    <p:extLst>
      <p:ext uri="{BB962C8B-B14F-4D97-AF65-F5344CB8AC3E}">
        <p14:creationId xmlns:p14="http://schemas.microsoft.com/office/powerpoint/2010/main" val="170565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/>
          <p:cNvGrpSpPr/>
          <p:nvPr/>
        </p:nvGrpSpPr>
        <p:grpSpPr>
          <a:xfrm>
            <a:off x="0" y="555868"/>
            <a:ext cx="5912558" cy="134930"/>
            <a:chOff x="-10" y="329481"/>
            <a:chExt cx="2880360" cy="36195"/>
          </a:xfrm>
        </p:grpSpPr>
        <p:sp>
          <p:nvSpPr>
            <p:cNvPr id="6" name="object 5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2880035" y="0"/>
                  </a:moveTo>
                  <a:lnTo>
                    <a:pt x="0" y="0"/>
                  </a:lnTo>
                  <a:lnTo>
                    <a:pt x="0" y="36002"/>
                  </a:lnTo>
                  <a:lnTo>
                    <a:pt x="288003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sz="3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6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0" y="0"/>
                  </a:moveTo>
                  <a:lnTo>
                    <a:pt x="2880035" y="0"/>
                  </a:lnTo>
                  <a:lnTo>
                    <a:pt x="0" y="36002"/>
                  </a:lnTo>
                  <a:lnTo>
                    <a:pt x="0" y="0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sz="3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object 2"/>
          <p:cNvSpPr txBox="1">
            <a:spLocks noGrp="1"/>
          </p:cNvSpPr>
          <p:nvPr/>
        </p:nvSpPr>
        <p:spPr>
          <a:xfrm>
            <a:off x="101073" y="76890"/>
            <a:ext cx="7101984" cy="47897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 sz="1400" b="0" i="0">
                <a:solidFill>
                  <a:srgbClr val="07070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3000" b="1" spc="12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–  System Architecture</a:t>
            </a:r>
            <a:endParaRPr sz="3000" b="1" spc="12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3336345" y="942167"/>
            <a:ext cx="1419740" cy="50222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77588" y="942167"/>
            <a:ext cx="1762717" cy="50222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Admin/Editors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23427" y="2033137"/>
            <a:ext cx="3079630" cy="8798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Editorial Service Management System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2004792" y="3379935"/>
            <a:ext cx="7815532" cy="172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71531" y="3899669"/>
            <a:ext cx="2314647" cy="14255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 Handling</a:t>
            </a:r>
          </a:p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 and Upload Management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IN" dirty="0"/>
          </a:p>
        </p:txBody>
      </p:sp>
      <p:sp>
        <p:nvSpPr>
          <p:cNvPr id="18" name="Rectangle 17"/>
          <p:cNvSpPr/>
          <p:nvPr/>
        </p:nvSpPr>
        <p:spPr>
          <a:xfrm>
            <a:off x="4579284" y="3838755"/>
            <a:ext cx="2314647" cy="14255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  <a:p>
            <a:pPr algn="ctr"/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Structured Instructions and Messaging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162668" y="3899669"/>
            <a:ext cx="2997833" cy="14255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Quote and Payment Processing</a:t>
            </a:r>
          </a:p>
          <a:p>
            <a:pPr algn="ctr"/>
            <a:endParaRPr lang="en-US" b="1" dirty="0" smtClean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Inquiry, Quotes and Secure Payments</a:t>
            </a: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IN" dirty="0"/>
          </a:p>
        </p:txBody>
      </p:sp>
      <p:sp>
        <p:nvSpPr>
          <p:cNvPr id="14" name="Flowchart: Magnetic Disk 13"/>
          <p:cNvSpPr/>
          <p:nvPr/>
        </p:nvSpPr>
        <p:spPr>
          <a:xfrm>
            <a:off x="4423500" y="5842764"/>
            <a:ext cx="2479482" cy="851334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Storage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438713" y="5894522"/>
            <a:ext cx="2189030" cy="74781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Payment Gateway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4848045" y="1193278"/>
            <a:ext cx="1449238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4423500" y="1509623"/>
            <a:ext cx="0" cy="52351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6745857" y="1509623"/>
            <a:ext cx="8626" cy="52351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2004792" y="3388561"/>
            <a:ext cx="0" cy="5186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9820324" y="3375892"/>
            <a:ext cx="0" cy="5313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9" idx="2"/>
          </p:cNvCxnSpPr>
          <p:nvPr/>
        </p:nvCxnSpPr>
        <p:spPr>
          <a:xfrm flipH="1">
            <a:off x="9661584" y="5325185"/>
            <a:ext cx="1" cy="56933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/>
          <p:cNvCxnSpPr>
            <a:stCxn id="13" idx="2"/>
            <a:endCxn id="14" idx="2"/>
          </p:cNvCxnSpPr>
          <p:nvPr/>
        </p:nvCxnSpPr>
        <p:spPr>
          <a:xfrm rot="16200000" flipH="1">
            <a:off x="2704554" y="4549485"/>
            <a:ext cx="943246" cy="2494645"/>
          </a:xfrm>
          <a:prstGeom prst="bentConnector2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14" idx="4"/>
            <a:endCxn id="21" idx="1"/>
          </p:cNvCxnSpPr>
          <p:nvPr/>
        </p:nvCxnSpPr>
        <p:spPr>
          <a:xfrm>
            <a:off x="6902982" y="6268431"/>
            <a:ext cx="1535731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9" idx="2"/>
          </p:cNvCxnSpPr>
          <p:nvPr/>
        </p:nvCxnSpPr>
        <p:spPr>
          <a:xfrm flipH="1">
            <a:off x="5663241" y="2913031"/>
            <a:ext cx="1" cy="92572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18" idx="2"/>
          </p:cNvCxnSpPr>
          <p:nvPr/>
        </p:nvCxnSpPr>
        <p:spPr>
          <a:xfrm flipH="1">
            <a:off x="5736607" y="5264271"/>
            <a:ext cx="1" cy="57849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3171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/>
          <p:cNvGrpSpPr/>
          <p:nvPr/>
        </p:nvGrpSpPr>
        <p:grpSpPr>
          <a:xfrm>
            <a:off x="0" y="555867"/>
            <a:ext cx="5912558" cy="151499"/>
            <a:chOff x="-10" y="329481"/>
            <a:chExt cx="2880360" cy="36195"/>
          </a:xfrm>
        </p:grpSpPr>
        <p:sp>
          <p:nvSpPr>
            <p:cNvPr id="6" name="object 5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2880035" y="0"/>
                  </a:moveTo>
                  <a:lnTo>
                    <a:pt x="0" y="0"/>
                  </a:lnTo>
                  <a:lnTo>
                    <a:pt x="0" y="36002"/>
                  </a:lnTo>
                  <a:lnTo>
                    <a:pt x="288003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sz="3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6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0" y="0"/>
                  </a:moveTo>
                  <a:lnTo>
                    <a:pt x="2880035" y="0"/>
                  </a:lnTo>
                  <a:lnTo>
                    <a:pt x="0" y="36002"/>
                  </a:lnTo>
                  <a:lnTo>
                    <a:pt x="0" y="0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sz="3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object 2"/>
          <p:cNvSpPr txBox="1">
            <a:spLocks noGrp="1"/>
          </p:cNvSpPr>
          <p:nvPr/>
        </p:nvSpPr>
        <p:spPr>
          <a:xfrm>
            <a:off x="101073" y="76890"/>
            <a:ext cx="4945380" cy="47897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 sz="1400" b="0" i="0">
                <a:solidFill>
                  <a:srgbClr val="07070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3000" b="1" spc="12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Methodology- Workflow</a:t>
            </a:r>
            <a:endParaRPr sz="3000" b="1" spc="12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8867" y="1034844"/>
            <a:ext cx="10616241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Account Creation &amp; Login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-User registers and logs into the system.</a:t>
            </a:r>
          </a:p>
          <a:p>
            <a:pPr marL="342900" indent="-342900">
              <a:buAutoNum type="arabicPeriod" startAt="2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Service Request Submission</a:t>
            </a: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- User submits a request specify required services.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Admin reviews the request </a:t>
            </a: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Quote Preparation &amp; Response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Admin prepares a quote based on the request.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User receives details about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payment.</a:t>
            </a:r>
          </a:p>
          <a:p>
            <a:pPr marL="342900" indent="-342900">
              <a:buAutoNum type="arabicPeriod" startAt="4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Client Decision &amp; Document Upload</a:t>
            </a:r>
            <a:endParaRPr lang="en-IN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- client agrees on payment and uploads the document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Payment is made through the secure gateway</a:t>
            </a:r>
          </a:p>
          <a:p>
            <a:pPr marL="342900" indent="-342900">
              <a:buAutoNum type="arabicPeriod" startAt="5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Editorial Work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Admin assigns work and uploads edited files once completed.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6. Revision &amp; Final Delivery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if revisions are needed, the client requests them.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Final edited document is delivered to the client.</a:t>
            </a:r>
          </a:p>
        </p:txBody>
      </p:sp>
    </p:spTree>
    <p:extLst>
      <p:ext uri="{BB962C8B-B14F-4D97-AF65-F5344CB8AC3E}">
        <p14:creationId xmlns:p14="http://schemas.microsoft.com/office/powerpoint/2010/main" val="851803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/>
          <p:cNvGrpSpPr/>
          <p:nvPr/>
        </p:nvGrpSpPr>
        <p:grpSpPr>
          <a:xfrm>
            <a:off x="0" y="555867"/>
            <a:ext cx="5912558" cy="151499"/>
            <a:chOff x="-10" y="329481"/>
            <a:chExt cx="2880360" cy="36195"/>
          </a:xfrm>
        </p:grpSpPr>
        <p:sp>
          <p:nvSpPr>
            <p:cNvPr id="6" name="object 5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2880035" y="0"/>
                  </a:moveTo>
                  <a:lnTo>
                    <a:pt x="0" y="0"/>
                  </a:lnTo>
                  <a:lnTo>
                    <a:pt x="0" y="36002"/>
                  </a:lnTo>
                  <a:lnTo>
                    <a:pt x="288003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sz="3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6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0" y="0"/>
                  </a:moveTo>
                  <a:lnTo>
                    <a:pt x="2880035" y="0"/>
                  </a:lnTo>
                  <a:lnTo>
                    <a:pt x="0" y="36002"/>
                  </a:lnTo>
                  <a:lnTo>
                    <a:pt x="0" y="0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sz="3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object 2"/>
          <p:cNvSpPr txBox="1">
            <a:spLocks noGrp="1"/>
          </p:cNvSpPr>
          <p:nvPr/>
        </p:nvSpPr>
        <p:spPr>
          <a:xfrm>
            <a:off x="101073" y="76890"/>
            <a:ext cx="4945380" cy="47897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 sz="1400" b="0" i="0">
                <a:solidFill>
                  <a:srgbClr val="07070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3000" b="1" spc="12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sz="3000" b="1" spc="12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3683" y="1186343"/>
            <a:ext cx="1093829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Front-End : HTML, CSS, Bootstrap(v5.3)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Back-End : PHP Laravel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Database  : MySQL</a:t>
            </a:r>
          </a:p>
          <a:p>
            <a:pPr>
              <a:lnSpc>
                <a:spcPct val="150000"/>
              </a:lnSpc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155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/>
          <p:cNvGrpSpPr/>
          <p:nvPr/>
        </p:nvGrpSpPr>
        <p:grpSpPr>
          <a:xfrm>
            <a:off x="0" y="555867"/>
            <a:ext cx="5912558" cy="151499"/>
            <a:chOff x="-10" y="329481"/>
            <a:chExt cx="2880360" cy="36195"/>
          </a:xfrm>
        </p:grpSpPr>
        <p:sp>
          <p:nvSpPr>
            <p:cNvPr id="6" name="object 5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2880035" y="0"/>
                  </a:moveTo>
                  <a:lnTo>
                    <a:pt x="0" y="0"/>
                  </a:lnTo>
                  <a:lnTo>
                    <a:pt x="0" y="36002"/>
                  </a:lnTo>
                  <a:lnTo>
                    <a:pt x="288003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sz="3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6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0" y="0"/>
                  </a:moveTo>
                  <a:lnTo>
                    <a:pt x="2880035" y="0"/>
                  </a:lnTo>
                  <a:lnTo>
                    <a:pt x="0" y="36002"/>
                  </a:lnTo>
                  <a:lnTo>
                    <a:pt x="0" y="0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sz="3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object 2"/>
          <p:cNvSpPr txBox="1">
            <a:spLocks noGrp="1"/>
          </p:cNvSpPr>
          <p:nvPr/>
        </p:nvSpPr>
        <p:spPr>
          <a:xfrm>
            <a:off x="101073" y="76890"/>
            <a:ext cx="4945380" cy="47897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 sz="1400" b="0" i="0">
                <a:solidFill>
                  <a:srgbClr val="07070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3000" b="1" spc="12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Status</a:t>
            </a:r>
            <a:endParaRPr sz="3000" b="1" spc="12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195175"/>
              </p:ext>
            </p:extLst>
          </p:nvPr>
        </p:nvGraphicFramePr>
        <p:xfrm>
          <a:off x="1973531" y="1613141"/>
          <a:ext cx="7368877" cy="3710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3261"/>
                <a:gridCol w="2225616"/>
              </a:tblGrid>
              <a:tr h="57141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904364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Front-End:</a:t>
                      </a:r>
                    </a:p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Form Pages</a:t>
                      </a:r>
                    </a:p>
                    <a:p>
                      <a:endParaRPr lang="en-US" sz="2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Informational Pages</a:t>
                      </a:r>
                    </a:p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</a:t>
                      </a:r>
                    </a:p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Client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Portal:</a:t>
                      </a:r>
                    </a:p>
                    <a:p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  Dashboard</a:t>
                      </a:r>
                    </a:p>
                    <a:p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  Project Submission Portal</a:t>
                      </a:r>
                    </a:p>
                    <a:p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  Review and Reset Password</a:t>
                      </a:r>
                      <a:endParaRPr lang="en-US" sz="2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  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2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2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2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</a:t>
                      </a:r>
                      <a:r>
                        <a:rPr lang="en-US" sz="2000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Right Brace 1"/>
          <p:cNvSpPr/>
          <p:nvPr/>
        </p:nvSpPr>
        <p:spPr>
          <a:xfrm>
            <a:off x="7194430" y="2277374"/>
            <a:ext cx="353683" cy="265693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917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/>
          <p:cNvGrpSpPr/>
          <p:nvPr/>
        </p:nvGrpSpPr>
        <p:grpSpPr>
          <a:xfrm>
            <a:off x="0" y="555867"/>
            <a:ext cx="5912558" cy="151499"/>
            <a:chOff x="-10" y="329481"/>
            <a:chExt cx="2880360" cy="36195"/>
          </a:xfrm>
        </p:grpSpPr>
        <p:sp>
          <p:nvSpPr>
            <p:cNvPr id="6" name="object 5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2880035" y="0"/>
                  </a:moveTo>
                  <a:lnTo>
                    <a:pt x="0" y="0"/>
                  </a:lnTo>
                  <a:lnTo>
                    <a:pt x="0" y="36002"/>
                  </a:lnTo>
                  <a:lnTo>
                    <a:pt x="288003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sz="3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6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0" y="0"/>
                  </a:moveTo>
                  <a:lnTo>
                    <a:pt x="2880035" y="0"/>
                  </a:lnTo>
                  <a:lnTo>
                    <a:pt x="0" y="36002"/>
                  </a:lnTo>
                  <a:lnTo>
                    <a:pt x="0" y="0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sz="3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object 2"/>
          <p:cNvSpPr txBox="1">
            <a:spLocks noGrp="1"/>
          </p:cNvSpPr>
          <p:nvPr/>
        </p:nvSpPr>
        <p:spPr>
          <a:xfrm>
            <a:off x="101073" y="76890"/>
            <a:ext cx="4945380" cy="47897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 sz="1400" b="0" i="0">
                <a:solidFill>
                  <a:srgbClr val="07070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3000" b="1" spc="12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sz="3000" b="1" spc="12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064" y="1305619"/>
            <a:ext cx="7141705" cy="37088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71669" y="5014428"/>
            <a:ext cx="3502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Login Form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0340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207" y="310549"/>
            <a:ext cx="5666329" cy="554053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6" name="TextBox 5"/>
          <p:cNvSpPr txBox="1"/>
          <p:nvPr/>
        </p:nvSpPr>
        <p:spPr>
          <a:xfrm>
            <a:off x="4016209" y="5920202"/>
            <a:ext cx="3502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Register Form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4541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0174" y="1039206"/>
            <a:ext cx="7617124" cy="37945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77574" y="4833744"/>
            <a:ext cx="3502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Informational Page-1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5788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9308" y="629729"/>
            <a:ext cx="7633846" cy="44684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88125" y="5300491"/>
            <a:ext cx="3502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Informational Page-2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6259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97" y="764912"/>
            <a:ext cx="7267830" cy="42163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32849" y="5179721"/>
            <a:ext cx="3502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Informational Page-3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2752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212" y="508958"/>
            <a:ext cx="7746868" cy="46256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24224" y="5272673"/>
            <a:ext cx="3502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Informational Page-4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0672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391510" y="2087593"/>
            <a:ext cx="1535502" cy="1897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4235570" y="5576474"/>
            <a:ext cx="3502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User Dashboard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608" y="1033609"/>
            <a:ext cx="8721306" cy="437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505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727" y="621101"/>
            <a:ext cx="8431316" cy="50119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48508" y="5729648"/>
            <a:ext cx="3502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Project Submission portal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4779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715" y="593865"/>
            <a:ext cx="6107417" cy="49270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44991" y="5641676"/>
            <a:ext cx="3502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Project Submission portal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4359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/>
          <p:cNvGrpSpPr/>
          <p:nvPr/>
        </p:nvGrpSpPr>
        <p:grpSpPr>
          <a:xfrm>
            <a:off x="0" y="555867"/>
            <a:ext cx="5912558" cy="151499"/>
            <a:chOff x="-10" y="329481"/>
            <a:chExt cx="2880360" cy="36195"/>
          </a:xfrm>
        </p:grpSpPr>
        <p:sp>
          <p:nvSpPr>
            <p:cNvPr id="6" name="object 5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2880035" y="0"/>
                  </a:moveTo>
                  <a:lnTo>
                    <a:pt x="0" y="0"/>
                  </a:lnTo>
                  <a:lnTo>
                    <a:pt x="0" y="36002"/>
                  </a:lnTo>
                  <a:lnTo>
                    <a:pt x="288003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sz="3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6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0" y="0"/>
                  </a:moveTo>
                  <a:lnTo>
                    <a:pt x="2880035" y="0"/>
                  </a:lnTo>
                  <a:lnTo>
                    <a:pt x="0" y="36002"/>
                  </a:lnTo>
                  <a:lnTo>
                    <a:pt x="0" y="0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sz="3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object 2"/>
          <p:cNvSpPr txBox="1">
            <a:spLocks noGrp="1"/>
          </p:cNvSpPr>
          <p:nvPr/>
        </p:nvSpPr>
        <p:spPr>
          <a:xfrm>
            <a:off x="101073" y="76890"/>
            <a:ext cx="4945380" cy="47897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 sz="1400" b="0" i="0">
                <a:solidFill>
                  <a:srgbClr val="07070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3000" b="1" spc="12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3000" b="1" spc="12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1102" y="1259458"/>
            <a:ext cx="1080027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provides a centralized platform for managing documents, communication, and editorial workflows.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Secure file upload and structured editing instruction submission are integrated into the system.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Secure online payment transactions ensure safe and reliable payments.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User‑friendly interface makes the system easy to adopt and operate.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0041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/>
          <p:cNvGrpSpPr/>
          <p:nvPr/>
        </p:nvGrpSpPr>
        <p:grpSpPr>
          <a:xfrm>
            <a:off x="0" y="555867"/>
            <a:ext cx="5912558" cy="151499"/>
            <a:chOff x="-10" y="329481"/>
            <a:chExt cx="2880360" cy="36195"/>
          </a:xfrm>
        </p:grpSpPr>
        <p:sp>
          <p:nvSpPr>
            <p:cNvPr id="6" name="object 5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2880035" y="0"/>
                  </a:moveTo>
                  <a:lnTo>
                    <a:pt x="0" y="0"/>
                  </a:lnTo>
                  <a:lnTo>
                    <a:pt x="0" y="36002"/>
                  </a:lnTo>
                  <a:lnTo>
                    <a:pt x="288003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sz="3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6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0" y="0"/>
                  </a:moveTo>
                  <a:lnTo>
                    <a:pt x="2880035" y="0"/>
                  </a:lnTo>
                  <a:lnTo>
                    <a:pt x="0" y="36002"/>
                  </a:lnTo>
                  <a:lnTo>
                    <a:pt x="0" y="0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sz="3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object 2"/>
          <p:cNvSpPr txBox="1">
            <a:spLocks noGrp="1"/>
          </p:cNvSpPr>
          <p:nvPr/>
        </p:nvSpPr>
        <p:spPr>
          <a:xfrm>
            <a:off x="101073" y="76890"/>
            <a:ext cx="4945380" cy="47897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 sz="1400" b="0" i="0">
                <a:solidFill>
                  <a:srgbClr val="07070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3000" b="1" spc="12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3000" b="1" spc="12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58482" y="1479301"/>
            <a:ext cx="1025393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 smtClean="0"/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M.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Alade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“Design and Implementation of a Web-Based Document Management System,” International Journal of Information Technology and Computer Science (IJITCS), vol. 15, no. 2, pp. 45–52, 2023,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10.5815/ijitcs.2023.02.04.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S. Nair and K. Mariappan, “A Secure Framework for Communication in Web Applications,” Engineering Proceedings, vol. 45, no. 1, pp. 1–6, 2023.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Suryaningrat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“File Upload Security: Essential Practices for Programmers,” CCIT Journal, vol. 7, no. 2, pp. 34–40, 2024.</a:t>
            </a:r>
          </a:p>
        </p:txBody>
      </p:sp>
    </p:spTree>
    <p:extLst>
      <p:ext uri="{BB962C8B-B14F-4D97-AF65-F5344CB8AC3E}">
        <p14:creationId xmlns:p14="http://schemas.microsoft.com/office/powerpoint/2010/main" val="27980081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606213" y="2485732"/>
            <a:ext cx="4871730" cy="646721"/>
          </a:xfrm>
          <a:prstGeom prst="rect">
            <a:avLst/>
          </a:prstGeom>
        </p:spPr>
        <p:txBody>
          <a:bodyPr vert="horz" wrap="square" lIns="0" tIns="30866" rIns="0" bIns="0" rtlCol="0">
            <a:spAutoFit/>
          </a:bodyPr>
          <a:lstStyle/>
          <a:p>
            <a:pPr marL="26841">
              <a:spcBef>
                <a:spcPts val="241"/>
              </a:spcBef>
            </a:pP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902690"/>
      </p:ext>
    </p:extLst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1000</TotalTime>
  <Words>648</Words>
  <Application>Microsoft Office PowerPoint</Application>
  <PresentationFormat>Widescreen</PresentationFormat>
  <Paragraphs>164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Devananda Rajan</dc:creator>
  <cp:lastModifiedBy>Devananda Rajan</cp:lastModifiedBy>
  <cp:revision>63</cp:revision>
  <dcterms:created xsi:type="dcterms:W3CDTF">2026-02-10T15:31:28Z</dcterms:created>
  <dcterms:modified xsi:type="dcterms:W3CDTF">2026-03-16T09:12:14Z</dcterms:modified>
</cp:coreProperties>
</file>